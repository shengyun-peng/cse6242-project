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27432000" cy="36576000"/>
  <p:notesSz cx="6858000" cy="9144000"/>
  <p:defaultTextStyle>
    <a:defPPr>
      <a:defRPr lang="en-US"/>
    </a:defPPr>
    <a:lvl1pPr marL="0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1pPr>
    <a:lvl2pPr marL="1776542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2pPr>
    <a:lvl3pPr marL="3553084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3pPr>
    <a:lvl4pPr marL="5329626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4pPr>
    <a:lvl5pPr marL="7106168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5pPr>
    <a:lvl6pPr marL="8882710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6pPr>
    <a:lvl7pPr marL="10659252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7pPr>
    <a:lvl8pPr marL="12435794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8pPr>
    <a:lvl9pPr marL="14212336" algn="l" defTabSz="3553084" rtl="0" eaLnBrk="1" latinLnBrk="0" hangingPunct="1">
      <a:defRPr sz="7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8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E6"/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6"/>
    <p:restoredTop sz="95376" autoAdjust="0"/>
  </p:normalViewPr>
  <p:slideViewPr>
    <p:cSldViewPr>
      <p:cViewPr>
        <p:scale>
          <a:sx n="65" d="100"/>
          <a:sy n="65" d="100"/>
        </p:scale>
        <p:origin x="-992" y="-8600"/>
      </p:cViewPr>
      <p:guideLst>
        <p:guide orient="horz" pos="11520"/>
        <p:guide pos="8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2EA02-A0BF-49A3-9E31-96151414932F}" type="datetimeFigureOut">
              <a:rPr lang="zh-CN" altLang="en-US" smtClean="0"/>
              <a:t>2021/12/3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5340F-1381-4922-AB0B-97F7079B3F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014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05340F-1381-4922-AB0B-97F7079B3F2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98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1362270"/>
            <a:ext cx="23317200" cy="78401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0726400"/>
            <a:ext cx="19202400" cy="9347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699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399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09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479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349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19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089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959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9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74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6939" y="23503469"/>
            <a:ext cx="23317200" cy="7264400"/>
          </a:xfrm>
        </p:spPr>
        <p:txBody>
          <a:bodyPr anchor="t"/>
          <a:lstStyle>
            <a:lvl1pPr algn="l">
              <a:defRPr sz="1631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6939" y="15502473"/>
            <a:ext cx="23317200" cy="8000997"/>
          </a:xfrm>
        </p:spPr>
        <p:txBody>
          <a:bodyPr anchor="b"/>
          <a:lstStyle>
            <a:lvl1pPr marL="0" indent="0">
              <a:buNone/>
              <a:defRPr sz="8210">
                <a:solidFill>
                  <a:schemeClr val="tx1">
                    <a:tint val="75000"/>
                  </a:schemeClr>
                </a:solidFill>
              </a:defRPr>
            </a:lvl1pPr>
            <a:lvl2pPr marL="1869988" indent="0">
              <a:buNone/>
              <a:defRPr sz="7368">
                <a:solidFill>
                  <a:schemeClr val="tx1">
                    <a:tint val="75000"/>
                  </a:schemeClr>
                </a:solidFill>
              </a:defRPr>
            </a:lvl2pPr>
            <a:lvl3pPr marL="3739976" indent="0">
              <a:buNone/>
              <a:defRPr sz="6526">
                <a:solidFill>
                  <a:schemeClr val="tx1">
                    <a:tint val="75000"/>
                  </a:schemeClr>
                </a:solidFill>
              </a:defRPr>
            </a:lvl3pPr>
            <a:lvl4pPr marL="5609964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4pPr>
            <a:lvl5pPr marL="7479952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5pPr>
            <a:lvl6pPr marL="9349941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6pPr>
            <a:lvl7pPr marL="11219929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7pPr>
            <a:lvl8pPr marL="13089917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8pPr>
            <a:lvl9pPr marL="14959905" indent="0">
              <a:buNone/>
              <a:defRPr sz="56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8534402"/>
            <a:ext cx="12115800" cy="24138469"/>
          </a:xfrm>
        </p:spPr>
        <p:txBody>
          <a:bodyPr/>
          <a:lstStyle>
            <a:lvl1pPr>
              <a:defRPr sz="11473"/>
            </a:lvl1pPr>
            <a:lvl2pPr>
              <a:defRPr sz="9789"/>
            </a:lvl2pPr>
            <a:lvl3pPr>
              <a:defRPr sz="8210"/>
            </a:lvl3pPr>
            <a:lvl4pPr>
              <a:defRPr sz="7368"/>
            </a:lvl4pPr>
            <a:lvl5pPr>
              <a:defRPr sz="7368"/>
            </a:lvl5pPr>
            <a:lvl6pPr>
              <a:defRPr sz="7368"/>
            </a:lvl6pPr>
            <a:lvl7pPr>
              <a:defRPr sz="7368"/>
            </a:lvl7pPr>
            <a:lvl8pPr>
              <a:defRPr sz="7368"/>
            </a:lvl8pPr>
            <a:lvl9pPr>
              <a:defRPr sz="7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944600" y="8534402"/>
            <a:ext cx="12115800" cy="24138469"/>
          </a:xfrm>
        </p:spPr>
        <p:txBody>
          <a:bodyPr/>
          <a:lstStyle>
            <a:lvl1pPr>
              <a:defRPr sz="11473"/>
            </a:lvl1pPr>
            <a:lvl2pPr>
              <a:defRPr sz="9789"/>
            </a:lvl2pPr>
            <a:lvl3pPr>
              <a:defRPr sz="8210"/>
            </a:lvl3pPr>
            <a:lvl4pPr>
              <a:defRPr sz="7368"/>
            </a:lvl4pPr>
            <a:lvl5pPr>
              <a:defRPr sz="7368"/>
            </a:lvl5pPr>
            <a:lvl6pPr>
              <a:defRPr sz="7368"/>
            </a:lvl6pPr>
            <a:lvl7pPr>
              <a:defRPr sz="7368"/>
            </a:lvl7pPr>
            <a:lvl8pPr>
              <a:defRPr sz="7368"/>
            </a:lvl8pPr>
            <a:lvl9pPr>
              <a:defRPr sz="7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5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8187270"/>
            <a:ext cx="12120564" cy="3412064"/>
          </a:xfrm>
        </p:spPr>
        <p:txBody>
          <a:bodyPr anchor="b"/>
          <a:lstStyle>
            <a:lvl1pPr marL="0" indent="0">
              <a:buNone/>
              <a:defRPr sz="9789" b="1"/>
            </a:lvl1pPr>
            <a:lvl2pPr marL="1869988" indent="0">
              <a:buNone/>
              <a:defRPr sz="8210" b="1"/>
            </a:lvl2pPr>
            <a:lvl3pPr marL="3739976" indent="0">
              <a:buNone/>
              <a:defRPr sz="7368" b="1"/>
            </a:lvl3pPr>
            <a:lvl4pPr marL="5609964" indent="0">
              <a:buNone/>
              <a:defRPr sz="6526" b="1"/>
            </a:lvl4pPr>
            <a:lvl5pPr marL="7479952" indent="0">
              <a:buNone/>
              <a:defRPr sz="6526" b="1"/>
            </a:lvl5pPr>
            <a:lvl6pPr marL="9349941" indent="0">
              <a:buNone/>
              <a:defRPr sz="6526" b="1"/>
            </a:lvl6pPr>
            <a:lvl7pPr marL="11219929" indent="0">
              <a:buNone/>
              <a:defRPr sz="6526" b="1"/>
            </a:lvl7pPr>
            <a:lvl8pPr marL="13089917" indent="0">
              <a:buNone/>
              <a:defRPr sz="6526" b="1"/>
            </a:lvl8pPr>
            <a:lvl9pPr marL="14959905" indent="0">
              <a:buNone/>
              <a:defRPr sz="65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11599334"/>
            <a:ext cx="12120564" cy="21073536"/>
          </a:xfrm>
        </p:spPr>
        <p:txBody>
          <a:bodyPr/>
          <a:lstStyle>
            <a:lvl1pPr>
              <a:defRPr sz="9789"/>
            </a:lvl1pPr>
            <a:lvl2pPr>
              <a:defRPr sz="8210"/>
            </a:lvl2pPr>
            <a:lvl3pPr>
              <a:defRPr sz="7368"/>
            </a:lvl3pPr>
            <a:lvl4pPr>
              <a:defRPr sz="6526"/>
            </a:lvl4pPr>
            <a:lvl5pPr>
              <a:defRPr sz="6526"/>
            </a:lvl5pPr>
            <a:lvl6pPr>
              <a:defRPr sz="6526"/>
            </a:lvl6pPr>
            <a:lvl7pPr>
              <a:defRPr sz="6526"/>
            </a:lvl7pPr>
            <a:lvl8pPr>
              <a:defRPr sz="6526"/>
            </a:lvl8pPr>
            <a:lvl9pPr>
              <a:defRPr sz="65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935078" y="8187270"/>
            <a:ext cx="12125325" cy="3412064"/>
          </a:xfrm>
        </p:spPr>
        <p:txBody>
          <a:bodyPr anchor="b"/>
          <a:lstStyle>
            <a:lvl1pPr marL="0" indent="0">
              <a:buNone/>
              <a:defRPr sz="9789" b="1"/>
            </a:lvl1pPr>
            <a:lvl2pPr marL="1869988" indent="0">
              <a:buNone/>
              <a:defRPr sz="8210" b="1"/>
            </a:lvl2pPr>
            <a:lvl3pPr marL="3739976" indent="0">
              <a:buNone/>
              <a:defRPr sz="7368" b="1"/>
            </a:lvl3pPr>
            <a:lvl4pPr marL="5609964" indent="0">
              <a:buNone/>
              <a:defRPr sz="6526" b="1"/>
            </a:lvl4pPr>
            <a:lvl5pPr marL="7479952" indent="0">
              <a:buNone/>
              <a:defRPr sz="6526" b="1"/>
            </a:lvl5pPr>
            <a:lvl6pPr marL="9349941" indent="0">
              <a:buNone/>
              <a:defRPr sz="6526" b="1"/>
            </a:lvl6pPr>
            <a:lvl7pPr marL="11219929" indent="0">
              <a:buNone/>
              <a:defRPr sz="6526" b="1"/>
            </a:lvl7pPr>
            <a:lvl8pPr marL="13089917" indent="0">
              <a:buNone/>
              <a:defRPr sz="6526" b="1"/>
            </a:lvl8pPr>
            <a:lvl9pPr marL="14959905" indent="0">
              <a:buNone/>
              <a:defRPr sz="65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935078" y="11599334"/>
            <a:ext cx="12125325" cy="21073536"/>
          </a:xfrm>
        </p:spPr>
        <p:txBody>
          <a:bodyPr/>
          <a:lstStyle>
            <a:lvl1pPr>
              <a:defRPr sz="9789"/>
            </a:lvl1pPr>
            <a:lvl2pPr>
              <a:defRPr sz="8210"/>
            </a:lvl2pPr>
            <a:lvl3pPr>
              <a:defRPr sz="7368"/>
            </a:lvl3pPr>
            <a:lvl4pPr>
              <a:defRPr sz="6526"/>
            </a:lvl4pPr>
            <a:lvl5pPr>
              <a:defRPr sz="6526"/>
            </a:lvl5pPr>
            <a:lvl6pPr>
              <a:defRPr sz="6526"/>
            </a:lvl6pPr>
            <a:lvl7pPr>
              <a:defRPr sz="6526"/>
            </a:lvl7pPr>
            <a:lvl8pPr>
              <a:defRPr sz="6526"/>
            </a:lvl8pPr>
            <a:lvl9pPr>
              <a:defRPr sz="65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7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17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5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3" y="1456266"/>
            <a:ext cx="9024939" cy="6197600"/>
          </a:xfrm>
        </p:spPr>
        <p:txBody>
          <a:bodyPr anchor="b"/>
          <a:lstStyle>
            <a:lvl1pPr algn="l">
              <a:defRPr sz="82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25150" y="1456270"/>
            <a:ext cx="15335250" cy="31216603"/>
          </a:xfrm>
        </p:spPr>
        <p:txBody>
          <a:bodyPr/>
          <a:lstStyle>
            <a:lvl1pPr>
              <a:defRPr sz="13052"/>
            </a:lvl1pPr>
            <a:lvl2pPr>
              <a:defRPr sz="11473"/>
            </a:lvl2pPr>
            <a:lvl3pPr>
              <a:defRPr sz="9789"/>
            </a:lvl3pPr>
            <a:lvl4pPr>
              <a:defRPr sz="8210"/>
            </a:lvl4pPr>
            <a:lvl5pPr>
              <a:defRPr sz="8210"/>
            </a:lvl5pPr>
            <a:lvl6pPr>
              <a:defRPr sz="8210"/>
            </a:lvl6pPr>
            <a:lvl7pPr>
              <a:defRPr sz="8210"/>
            </a:lvl7pPr>
            <a:lvl8pPr>
              <a:defRPr sz="8210"/>
            </a:lvl8pPr>
            <a:lvl9pPr>
              <a:defRPr sz="82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3" y="7653870"/>
            <a:ext cx="9024939" cy="25019003"/>
          </a:xfrm>
        </p:spPr>
        <p:txBody>
          <a:bodyPr/>
          <a:lstStyle>
            <a:lvl1pPr marL="0" indent="0">
              <a:buNone/>
              <a:defRPr sz="5684"/>
            </a:lvl1pPr>
            <a:lvl2pPr marL="1869988" indent="0">
              <a:buNone/>
              <a:defRPr sz="4947"/>
            </a:lvl2pPr>
            <a:lvl3pPr marL="3739976" indent="0">
              <a:buNone/>
              <a:defRPr sz="4105"/>
            </a:lvl3pPr>
            <a:lvl4pPr marL="5609964" indent="0">
              <a:buNone/>
              <a:defRPr sz="3684"/>
            </a:lvl4pPr>
            <a:lvl5pPr marL="7479952" indent="0">
              <a:buNone/>
              <a:defRPr sz="3684"/>
            </a:lvl5pPr>
            <a:lvl6pPr marL="9349941" indent="0">
              <a:buNone/>
              <a:defRPr sz="3684"/>
            </a:lvl6pPr>
            <a:lvl7pPr marL="11219929" indent="0">
              <a:buNone/>
              <a:defRPr sz="3684"/>
            </a:lvl7pPr>
            <a:lvl8pPr marL="13089917" indent="0">
              <a:buNone/>
              <a:defRPr sz="3684"/>
            </a:lvl8pPr>
            <a:lvl9pPr marL="14959905" indent="0">
              <a:buNone/>
              <a:defRPr sz="36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754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6864" y="25603201"/>
            <a:ext cx="16459200" cy="3022603"/>
          </a:xfrm>
        </p:spPr>
        <p:txBody>
          <a:bodyPr anchor="b"/>
          <a:lstStyle>
            <a:lvl1pPr algn="l">
              <a:defRPr sz="82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76864" y="3268134"/>
            <a:ext cx="16459200" cy="21945600"/>
          </a:xfrm>
        </p:spPr>
        <p:txBody>
          <a:bodyPr/>
          <a:lstStyle>
            <a:lvl1pPr marL="0" indent="0">
              <a:buNone/>
              <a:defRPr sz="13052"/>
            </a:lvl1pPr>
            <a:lvl2pPr marL="1869988" indent="0">
              <a:buNone/>
              <a:defRPr sz="11473"/>
            </a:lvl2pPr>
            <a:lvl3pPr marL="3739976" indent="0">
              <a:buNone/>
              <a:defRPr sz="9789"/>
            </a:lvl3pPr>
            <a:lvl4pPr marL="5609964" indent="0">
              <a:buNone/>
              <a:defRPr sz="8210"/>
            </a:lvl4pPr>
            <a:lvl5pPr marL="7479952" indent="0">
              <a:buNone/>
              <a:defRPr sz="8210"/>
            </a:lvl5pPr>
            <a:lvl6pPr marL="9349941" indent="0">
              <a:buNone/>
              <a:defRPr sz="8210"/>
            </a:lvl6pPr>
            <a:lvl7pPr marL="11219929" indent="0">
              <a:buNone/>
              <a:defRPr sz="8210"/>
            </a:lvl7pPr>
            <a:lvl8pPr marL="13089917" indent="0">
              <a:buNone/>
              <a:defRPr sz="8210"/>
            </a:lvl8pPr>
            <a:lvl9pPr marL="14959905" indent="0">
              <a:buNone/>
              <a:defRPr sz="821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76864" y="28625804"/>
            <a:ext cx="16459200" cy="4292597"/>
          </a:xfrm>
        </p:spPr>
        <p:txBody>
          <a:bodyPr/>
          <a:lstStyle>
            <a:lvl1pPr marL="0" indent="0">
              <a:buNone/>
              <a:defRPr sz="5684"/>
            </a:lvl1pPr>
            <a:lvl2pPr marL="1869988" indent="0">
              <a:buNone/>
              <a:defRPr sz="4947"/>
            </a:lvl2pPr>
            <a:lvl3pPr marL="3739976" indent="0">
              <a:buNone/>
              <a:defRPr sz="4105"/>
            </a:lvl3pPr>
            <a:lvl4pPr marL="5609964" indent="0">
              <a:buNone/>
              <a:defRPr sz="3684"/>
            </a:lvl4pPr>
            <a:lvl5pPr marL="7479952" indent="0">
              <a:buNone/>
              <a:defRPr sz="3684"/>
            </a:lvl5pPr>
            <a:lvl6pPr marL="9349941" indent="0">
              <a:buNone/>
              <a:defRPr sz="3684"/>
            </a:lvl6pPr>
            <a:lvl7pPr marL="11219929" indent="0">
              <a:buNone/>
              <a:defRPr sz="3684"/>
            </a:lvl7pPr>
            <a:lvl8pPr marL="13089917" indent="0">
              <a:buNone/>
              <a:defRPr sz="3684"/>
            </a:lvl8pPr>
            <a:lvl9pPr marL="14959905" indent="0">
              <a:buNone/>
              <a:defRPr sz="36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15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888200" y="1464739"/>
            <a:ext cx="6172200" cy="312081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464739"/>
            <a:ext cx="18059400" cy="31208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4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464736"/>
            <a:ext cx="24688800" cy="6096000"/>
          </a:xfrm>
          <a:prstGeom prst="rect">
            <a:avLst/>
          </a:prstGeom>
        </p:spPr>
        <p:txBody>
          <a:bodyPr vert="horz" lIns="355308" tIns="177654" rIns="355308" bIns="1776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8534402"/>
            <a:ext cx="24688800" cy="24138469"/>
          </a:xfrm>
          <a:prstGeom prst="rect">
            <a:avLst/>
          </a:prstGeom>
        </p:spPr>
        <p:txBody>
          <a:bodyPr vert="horz" lIns="355308" tIns="177654" rIns="355308" bIns="1776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33900536"/>
            <a:ext cx="6400800" cy="1947334"/>
          </a:xfrm>
          <a:prstGeom prst="rect">
            <a:avLst/>
          </a:prstGeom>
        </p:spPr>
        <p:txBody>
          <a:bodyPr vert="horz" lIns="355308" tIns="177654" rIns="355308" bIns="177654" rtlCol="0" anchor="ctr"/>
          <a:lstStyle>
            <a:lvl1pPr algn="l">
              <a:defRPr sz="49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30BDA-5F2A-487F-9A13-E6C5CA045F37}" type="datetimeFigureOut">
              <a:rPr lang="en-US" smtClean="0"/>
              <a:t>12/3/21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72600" y="33900536"/>
            <a:ext cx="8686800" cy="1947334"/>
          </a:xfrm>
          <a:prstGeom prst="rect">
            <a:avLst/>
          </a:prstGeom>
        </p:spPr>
        <p:txBody>
          <a:bodyPr vert="horz" lIns="355308" tIns="177654" rIns="355308" bIns="177654" rtlCol="0" anchor="ctr"/>
          <a:lstStyle>
            <a:lvl1pPr algn="ctr">
              <a:defRPr sz="49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659600" y="33900536"/>
            <a:ext cx="6400800" cy="1947334"/>
          </a:xfrm>
          <a:prstGeom prst="rect">
            <a:avLst/>
          </a:prstGeom>
        </p:spPr>
        <p:txBody>
          <a:bodyPr vert="horz" lIns="355308" tIns="177654" rIns="355308" bIns="177654" rtlCol="0" anchor="ctr"/>
          <a:lstStyle>
            <a:lvl1pPr algn="r">
              <a:defRPr sz="494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2574C-20AC-4332-836C-3DBD28D304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74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39976" rtl="0" eaLnBrk="1" latinLnBrk="0" hangingPunct="1">
        <a:spcBef>
          <a:spcPct val="0"/>
        </a:spcBef>
        <a:buNone/>
        <a:defRPr sz="179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2492" indent="-1402492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52" kern="1200">
          <a:solidFill>
            <a:schemeClr val="tx1"/>
          </a:solidFill>
          <a:latin typeface="+mn-lt"/>
          <a:ea typeface="+mn-ea"/>
          <a:cs typeface="+mn-cs"/>
        </a:defRPr>
      </a:lvl1pPr>
      <a:lvl2pPr marL="3038731" indent="-1168743" algn="l" defTabSz="3739976" rtl="0" eaLnBrk="1" latinLnBrk="0" hangingPunct="1">
        <a:spcBef>
          <a:spcPct val="20000"/>
        </a:spcBef>
        <a:buFont typeface="Arial" panose="020B0604020202020204" pitchFamily="34" charset="0"/>
        <a:buChar char="–"/>
        <a:defRPr sz="11473" kern="1200">
          <a:solidFill>
            <a:schemeClr val="tx1"/>
          </a:solidFill>
          <a:latin typeface="+mn-lt"/>
          <a:ea typeface="+mn-ea"/>
          <a:cs typeface="+mn-cs"/>
        </a:defRPr>
      </a:lvl2pPr>
      <a:lvl3pPr marL="4674970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9789" kern="1200">
          <a:solidFill>
            <a:schemeClr val="tx1"/>
          </a:solidFill>
          <a:latin typeface="+mn-lt"/>
          <a:ea typeface="+mn-ea"/>
          <a:cs typeface="+mn-cs"/>
        </a:defRPr>
      </a:lvl3pPr>
      <a:lvl4pPr marL="6544958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–"/>
        <a:defRPr sz="8210" kern="1200">
          <a:solidFill>
            <a:schemeClr val="tx1"/>
          </a:solidFill>
          <a:latin typeface="+mn-lt"/>
          <a:ea typeface="+mn-ea"/>
          <a:cs typeface="+mn-cs"/>
        </a:defRPr>
      </a:lvl4pPr>
      <a:lvl5pPr marL="8414946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»"/>
        <a:defRPr sz="82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4935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8210" kern="1200">
          <a:solidFill>
            <a:schemeClr val="tx1"/>
          </a:solidFill>
          <a:latin typeface="+mn-lt"/>
          <a:ea typeface="+mn-ea"/>
          <a:cs typeface="+mn-cs"/>
        </a:defRPr>
      </a:lvl6pPr>
      <a:lvl7pPr marL="12154923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8210" kern="1200">
          <a:solidFill>
            <a:schemeClr val="tx1"/>
          </a:solidFill>
          <a:latin typeface="+mn-lt"/>
          <a:ea typeface="+mn-ea"/>
          <a:cs typeface="+mn-cs"/>
        </a:defRPr>
      </a:lvl7pPr>
      <a:lvl8pPr marL="14024911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8210" kern="1200">
          <a:solidFill>
            <a:schemeClr val="tx1"/>
          </a:solidFill>
          <a:latin typeface="+mn-lt"/>
          <a:ea typeface="+mn-ea"/>
          <a:cs typeface="+mn-cs"/>
        </a:defRPr>
      </a:lvl8pPr>
      <a:lvl9pPr marL="15894899" indent="-934994" algn="l" defTabSz="3739976" rtl="0" eaLnBrk="1" latinLnBrk="0" hangingPunct="1">
        <a:spcBef>
          <a:spcPct val="20000"/>
        </a:spcBef>
        <a:buFont typeface="Arial" panose="020B0604020202020204" pitchFamily="34" charset="0"/>
        <a:buChar char="•"/>
        <a:defRPr sz="8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1pPr>
      <a:lvl2pPr marL="1869988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2pPr>
      <a:lvl3pPr marL="3739976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3pPr>
      <a:lvl4pPr marL="5609964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4pPr>
      <a:lvl5pPr marL="7479952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5pPr>
      <a:lvl6pPr marL="9349941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6pPr>
      <a:lvl7pPr marL="11219929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7pPr>
      <a:lvl8pPr marL="13089917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8pPr>
      <a:lvl9pPr marL="14959905" algn="l" defTabSz="3739976" rtl="0" eaLnBrk="1" latinLnBrk="0" hangingPunct="1">
        <a:defRPr sz="7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36000">
              <a:schemeClr val="accent1">
                <a:lumMod val="87000"/>
              </a:schemeClr>
            </a:gs>
            <a:gs pos="85000">
              <a:schemeClr val="tx1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04800" y="513814"/>
            <a:ext cx="26734989" cy="3829586"/>
          </a:xfrm>
          <a:prstGeom prst="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0" y="4623159"/>
            <a:ext cx="15544800" cy="874957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8" name="矩形 7"/>
          <p:cNvSpPr/>
          <p:nvPr/>
        </p:nvSpPr>
        <p:spPr>
          <a:xfrm>
            <a:off x="16306800" y="4623158"/>
            <a:ext cx="10774737" cy="874188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9" name="矩形 8"/>
          <p:cNvSpPr/>
          <p:nvPr/>
        </p:nvSpPr>
        <p:spPr>
          <a:xfrm>
            <a:off x="304800" y="13751685"/>
            <a:ext cx="8714147" cy="2236957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2" name="矩形 1"/>
          <p:cNvSpPr/>
          <p:nvPr/>
        </p:nvSpPr>
        <p:spPr>
          <a:xfrm>
            <a:off x="304800" y="13751685"/>
            <a:ext cx="8674635" cy="1086980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GLOBAL COVID-19 VISUALIZATION</a:t>
            </a:r>
            <a:endParaRPr lang="zh-CN" altLang="en-US" sz="4210" dirty="0"/>
          </a:p>
        </p:txBody>
      </p:sp>
      <p:sp>
        <p:nvSpPr>
          <p:cNvPr id="23" name="矩形 22"/>
          <p:cNvSpPr/>
          <p:nvPr/>
        </p:nvSpPr>
        <p:spPr>
          <a:xfrm>
            <a:off x="9308565" y="13743992"/>
            <a:ext cx="8979435" cy="1658986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24" name="矩形 23"/>
          <p:cNvSpPr/>
          <p:nvPr/>
        </p:nvSpPr>
        <p:spPr>
          <a:xfrm>
            <a:off x="9309118" y="13751685"/>
            <a:ext cx="8978882" cy="1086980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COVID-19</a:t>
            </a:r>
            <a:r>
              <a:rPr lang="zh-CN" altLang="en-US" sz="4210" dirty="0"/>
              <a:t> </a:t>
            </a:r>
            <a:r>
              <a:rPr lang="en-US" altLang="zh-CN" sz="4210" dirty="0"/>
              <a:t>TWEET VISUALIZATION</a:t>
            </a:r>
            <a:endParaRPr lang="zh-CN" altLang="en-US" sz="4210" dirty="0"/>
          </a:p>
        </p:txBody>
      </p:sp>
      <p:sp>
        <p:nvSpPr>
          <p:cNvPr id="25" name="矩形 24"/>
          <p:cNvSpPr/>
          <p:nvPr/>
        </p:nvSpPr>
        <p:spPr>
          <a:xfrm>
            <a:off x="304800" y="4659972"/>
            <a:ext cx="15544800" cy="909364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INTRODUCTION</a:t>
            </a:r>
            <a:r>
              <a:rPr lang="zh-CN" altLang="en-US" sz="4210" dirty="0"/>
              <a:t> </a:t>
            </a:r>
            <a:r>
              <a:rPr lang="en-US" altLang="zh-CN" sz="4210" dirty="0"/>
              <a:t>AND</a:t>
            </a:r>
            <a:r>
              <a:rPr lang="zh-CN" altLang="en-US" sz="4210" dirty="0"/>
              <a:t> </a:t>
            </a:r>
            <a:r>
              <a:rPr lang="en-US" altLang="zh-CN" sz="4210" dirty="0"/>
              <a:t>MOTIVATION</a:t>
            </a:r>
            <a:endParaRPr lang="zh-CN" altLang="en-US" sz="4210" dirty="0"/>
          </a:p>
        </p:txBody>
      </p:sp>
      <p:sp>
        <p:nvSpPr>
          <p:cNvPr id="35" name="矩形 34"/>
          <p:cNvSpPr/>
          <p:nvPr/>
        </p:nvSpPr>
        <p:spPr>
          <a:xfrm>
            <a:off x="18592800" y="13751685"/>
            <a:ext cx="8446989" cy="2231050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37" name="矩形 36"/>
          <p:cNvSpPr/>
          <p:nvPr/>
        </p:nvSpPr>
        <p:spPr>
          <a:xfrm>
            <a:off x="18577618" y="13751686"/>
            <a:ext cx="8503920" cy="1086980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COVID-19 TWITTER</a:t>
            </a:r>
            <a:r>
              <a:rPr lang="zh-CN" altLang="en-US" sz="4210" dirty="0"/>
              <a:t> </a:t>
            </a:r>
            <a:r>
              <a:rPr lang="en-US" altLang="zh-CN" sz="4210" dirty="0"/>
              <a:t>WORD</a:t>
            </a:r>
            <a:r>
              <a:rPr lang="zh-CN" altLang="en-US" sz="4210" dirty="0"/>
              <a:t> </a:t>
            </a:r>
            <a:r>
              <a:rPr lang="en-US" altLang="zh-CN" sz="4210" dirty="0"/>
              <a:t>CLOUDS</a:t>
            </a:r>
            <a:endParaRPr lang="zh-CN" altLang="en-US" sz="4210" dirty="0"/>
          </a:p>
        </p:txBody>
      </p:sp>
      <p:sp>
        <p:nvSpPr>
          <p:cNvPr id="52" name="矩形 51"/>
          <p:cNvSpPr/>
          <p:nvPr/>
        </p:nvSpPr>
        <p:spPr>
          <a:xfrm>
            <a:off x="1845734" y="2345599"/>
            <a:ext cx="23605066" cy="13882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COVID-19</a:t>
            </a:r>
            <a:r>
              <a:rPr lang="zh-CN" altLang="en-US" sz="8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   </a:t>
            </a:r>
            <a:r>
              <a:rPr lang="en-US" altLang="zh-CN" sz="8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GLOBAL</a:t>
            </a:r>
            <a:r>
              <a:rPr lang="zh-CN" altLang="en-US" sz="8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   </a:t>
            </a:r>
            <a:r>
              <a:rPr lang="en-US" altLang="zh-CN" sz="8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VISUALIZATION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457201" y="5735895"/>
            <a:ext cx="1536186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Twitter,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as a leading social platform, generates over 800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million Tweets in a single day. Tweets on COVID-19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are too overwhelming for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users to extract useful information. Also, current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COVID-related websites mainly provide 2-D COVID-19  visualizations.  </a:t>
            </a:r>
            <a:r>
              <a:rPr lang="en-US" altLang="zh-CN" sz="36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Main </a:t>
            </a:r>
            <a:r>
              <a:rPr lang="en-US" altLang="zh-CN" sz="36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contributions</a:t>
            </a:r>
            <a:r>
              <a:rPr lang="en-US" altLang="zh-CN" sz="36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and </a:t>
            </a:r>
            <a:r>
              <a:rPr lang="en-US" altLang="zh-CN" sz="3600" b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novelties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Demonstrate how COVID-19 spread across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world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Manifest the correlation between trend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in tweets and COVID-19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daily cases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Present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 word cloud of most frequently occurring tokenized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By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performing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above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visualizations,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project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goal wishes to: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Evaluate the relationship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between the COVID-19 cases and number of tweets in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each country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Provide data visualization to assist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users make decisions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regarding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pandemic</a:t>
            </a:r>
          </a:p>
          <a:p>
            <a:pPr marL="742950" indent="-74295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Give users an overview of the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most popular topics about COVID-19 on Twitter</a:t>
            </a:r>
          </a:p>
        </p:txBody>
      </p:sp>
      <p:sp>
        <p:nvSpPr>
          <p:cNvPr id="54" name="矩形 53"/>
          <p:cNvSpPr/>
          <p:nvPr/>
        </p:nvSpPr>
        <p:spPr>
          <a:xfrm>
            <a:off x="16306800" y="4633713"/>
            <a:ext cx="10774737" cy="935623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DATASETS</a:t>
            </a:r>
            <a:endParaRPr lang="zh-CN" altLang="en-US" sz="4210" dirty="0"/>
          </a:p>
        </p:txBody>
      </p:sp>
      <p:sp>
        <p:nvSpPr>
          <p:cNvPr id="55" name="矩形 54"/>
          <p:cNvSpPr/>
          <p:nvPr/>
        </p:nvSpPr>
        <p:spPr>
          <a:xfrm>
            <a:off x="9308566" y="30556199"/>
            <a:ext cx="8979434" cy="5565065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68"/>
          </a:p>
        </p:txBody>
      </p:sp>
      <p:sp>
        <p:nvSpPr>
          <p:cNvPr id="57" name="矩形 56"/>
          <p:cNvSpPr/>
          <p:nvPr/>
        </p:nvSpPr>
        <p:spPr>
          <a:xfrm>
            <a:off x="9308565" y="30556200"/>
            <a:ext cx="8979435" cy="525031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210" dirty="0"/>
              <a:t>CONCLUSION</a:t>
            </a:r>
            <a:endParaRPr lang="zh-CN" altLang="en-US" sz="4210" dirty="0"/>
          </a:p>
        </p:txBody>
      </p:sp>
      <p:sp>
        <p:nvSpPr>
          <p:cNvPr id="105" name="矩形 104"/>
          <p:cNvSpPr/>
          <p:nvPr/>
        </p:nvSpPr>
        <p:spPr>
          <a:xfrm>
            <a:off x="16535400" y="5688985"/>
            <a:ext cx="10286999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</a:t>
            </a:r>
            <a:r>
              <a:rPr lang="zh-CN" alt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Dataset-1:</a:t>
            </a:r>
            <a:r>
              <a:rPr lang="zh-CN" alt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COVID-19 daily cases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Center for Systems Science and Engineering (CSSE)    at Johns Hopkins University, which has COVID-19 cases by day, month and year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CN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-</a:t>
            </a:r>
            <a:r>
              <a:rPr lang="zh-CN" alt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Dataset-2:</a:t>
            </a:r>
            <a:r>
              <a:rPr lang="zh-CN" alt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COVID-19 Twitter chatter dataset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Panacea Lab at GSU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Consists of COVID-19-related tweets acquired from the Twitter Stream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Provides top 1000 frequent terms, bigrams, and trigrams. Data used is March 1 to April 15, 2021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(to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capture</a:t>
            </a:r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second spike of COVID-19 cases in the U.S.)</a:t>
            </a:r>
            <a:endParaRPr lang="zh-CN" altLang="en-US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6" name="矩形 53">
            <a:extLst>
              <a:ext uri="{FF2B5EF4-FFF2-40B4-BE49-F238E27FC236}">
                <a16:creationId xmlns:a16="http://schemas.microsoft.com/office/drawing/2014/main" id="{59DC5854-F7B3-D74D-941F-3FF3216B92E6}"/>
              </a:ext>
            </a:extLst>
          </p:cNvPr>
          <p:cNvSpPr/>
          <p:nvPr/>
        </p:nvSpPr>
        <p:spPr>
          <a:xfrm>
            <a:off x="304800" y="513814"/>
            <a:ext cx="26776737" cy="1388201"/>
          </a:xfrm>
          <a:prstGeom prst="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4421" dirty="0"/>
              <a:t>  </a:t>
            </a:r>
            <a:r>
              <a:rPr lang="en-US" altLang="zh-CN" sz="4421" dirty="0" err="1"/>
              <a:t>ShengYun</a:t>
            </a:r>
            <a:r>
              <a:rPr lang="en-US" altLang="zh-CN" sz="4421" dirty="0"/>
              <a:t> Peng</a:t>
            </a:r>
            <a:r>
              <a:rPr lang="zh-CN" altLang="en-US" sz="4421" dirty="0"/>
              <a:t>          </a:t>
            </a:r>
            <a:r>
              <a:rPr lang="en-US" altLang="zh-CN" sz="4421" dirty="0"/>
              <a:t> </a:t>
            </a:r>
            <a:r>
              <a:rPr lang="en-US" altLang="zh-CN" sz="4421" dirty="0" err="1"/>
              <a:t>JunYan</a:t>
            </a:r>
            <a:r>
              <a:rPr lang="en-US" altLang="zh-CN" sz="4421" dirty="0"/>
              <a:t> Mao </a:t>
            </a:r>
            <a:r>
              <a:rPr lang="zh-CN" altLang="en-US" sz="4421" dirty="0"/>
              <a:t>            </a:t>
            </a:r>
            <a:r>
              <a:rPr lang="en-US" altLang="zh-CN" sz="4421" dirty="0" err="1"/>
              <a:t>GuanChen</a:t>
            </a:r>
            <a:r>
              <a:rPr lang="en-US" altLang="zh-CN" sz="4421" dirty="0"/>
              <a:t> Meng</a:t>
            </a:r>
            <a:r>
              <a:rPr lang="zh-CN" altLang="en-US" sz="4421" dirty="0"/>
              <a:t>           </a:t>
            </a:r>
            <a:r>
              <a:rPr lang="en-US" altLang="zh-CN" sz="4421" dirty="0" err="1"/>
              <a:t>ZeFang</a:t>
            </a:r>
            <a:r>
              <a:rPr lang="en-US" altLang="zh-CN" sz="4421" dirty="0"/>
              <a:t> Liu </a:t>
            </a:r>
            <a:r>
              <a:rPr lang="zh-CN" altLang="en-US" sz="4421" dirty="0"/>
              <a:t>            </a:t>
            </a:r>
            <a:r>
              <a:rPr lang="en-US" altLang="zh-CN" sz="4421" dirty="0" err="1"/>
              <a:t>YuXuan</a:t>
            </a:r>
            <a:r>
              <a:rPr lang="en-US" altLang="zh-CN" sz="4421" dirty="0"/>
              <a:t> Wang</a:t>
            </a:r>
            <a:r>
              <a:rPr lang="zh-CN" altLang="en-US" sz="4421" dirty="0"/>
              <a:t> </a:t>
            </a:r>
            <a:r>
              <a:rPr lang="en-US" altLang="zh-CN" sz="4421" dirty="0"/>
              <a:t> </a:t>
            </a:r>
            <a:r>
              <a:rPr lang="zh-CN" altLang="en-US" sz="4421" dirty="0"/>
              <a:t>          </a:t>
            </a:r>
            <a:r>
              <a:rPr lang="en-US" altLang="zh-CN" sz="4421" dirty="0" err="1"/>
              <a:t>HuiLi</a:t>
            </a:r>
            <a:r>
              <a:rPr lang="en-US" altLang="zh-CN" sz="4421" dirty="0"/>
              <a:t> Huang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073A8-26A1-1349-BE8A-2F123392D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889" y="2120053"/>
            <a:ext cx="2237911" cy="2072326"/>
          </a:xfrm>
          <a:prstGeom prst="rect">
            <a:avLst/>
          </a:prstGeom>
        </p:spPr>
      </p:pic>
      <p:pic>
        <p:nvPicPr>
          <p:cNvPr id="10" name="Picture 9" descr="A picture containing light, dark&#10;&#10;Description automatically generated">
            <a:extLst>
              <a:ext uri="{FF2B5EF4-FFF2-40B4-BE49-F238E27FC236}">
                <a16:creationId xmlns:a16="http://schemas.microsoft.com/office/drawing/2014/main" id="{A08EED4A-7856-4546-BE1C-0AB1EBC4F9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867" y="2244286"/>
            <a:ext cx="2074333" cy="1866900"/>
          </a:xfrm>
          <a:prstGeom prst="rect">
            <a:avLst/>
          </a:prstGeom>
        </p:spPr>
      </p:pic>
      <p:sp>
        <p:nvSpPr>
          <p:cNvPr id="22" name="矩形 104">
            <a:extLst>
              <a:ext uri="{FF2B5EF4-FFF2-40B4-BE49-F238E27FC236}">
                <a16:creationId xmlns:a16="http://schemas.microsoft.com/office/drawing/2014/main" id="{5F2D3593-0F24-D54D-9D9B-E21A8376EE3F}"/>
              </a:ext>
            </a:extLst>
          </p:cNvPr>
          <p:cNvSpPr/>
          <p:nvPr/>
        </p:nvSpPr>
        <p:spPr>
          <a:xfrm>
            <a:off x="9421453" y="14782800"/>
            <a:ext cx="8714147" cy="1569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Approaches: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Select 6000 tweets with geographic coordinates  from 408312 COVID-19 related tweets in March and April 2021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Use world globe for visualizing tweet locations effectively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Display higher and redder bars for more tweets in one position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Visualize twitter data by geographic coordinates, which innovatively present tweets number among countries</a:t>
            </a:r>
          </a:p>
          <a:p>
            <a:endParaRPr lang="en-US" altLang="zh-CN" sz="3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altLang="zh-CN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Experiments and results: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Evaluate legibility of the geographic data, density of coordinates, and distinctiveness of colors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Display two bar charts for the most common tweet countries and languages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World globe with proper longitude and latitude data giving the clearest result</a:t>
            </a:r>
          </a:p>
        </p:txBody>
      </p:sp>
      <p:sp>
        <p:nvSpPr>
          <p:cNvPr id="26" name="矩形 104">
            <a:extLst>
              <a:ext uri="{FF2B5EF4-FFF2-40B4-BE49-F238E27FC236}">
                <a16:creationId xmlns:a16="http://schemas.microsoft.com/office/drawing/2014/main" id="{8AE793BA-C16F-D048-A5A8-259E52B3EA11}"/>
              </a:ext>
            </a:extLst>
          </p:cNvPr>
          <p:cNvSpPr/>
          <p:nvPr/>
        </p:nvSpPr>
        <p:spPr>
          <a:xfrm>
            <a:off x="18821400" y="15011400"/>
            <a:ext cx="82296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Two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word cloud experiment results: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Generate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word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cloud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of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during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COVID-19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second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wave.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en-US" altLang="zh-CN" sz="3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Generate animated word cloud to show the most popular COVID-19 topic in each month from Jan-Apr 2021.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Prove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change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of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Twitter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topics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is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related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COVID-19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situation.</a:t>
            </a:r>
            <a:r>
              <a:rPr lang="zh-CN" altLang="en-US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en-US" altLang="zh-CN" sz="3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3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reflect the correlation between the epidemic and Twitter data</a:t>
            </a:r>
          </a:p>
        </p:txBody>
      </p:sp>
      <p:pic>
        <p:nvPicPr>
          <p:cNvPr id="27" name="Picture 26" descr="Timeline&#10;&#10;Description automatically generated">
            <a:extLst>
              <a:ext uri="{FF2B5EF4-FFF2-40B4-BE49-F238E27FC236}">
                <a16:creationId xmlns:a16="http://schemas.microsoft.com/office/drawing/2014/main" id="{02981C27-E5D0-CD4E-8A88-38D018DEA0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3780" y="22612233"/>
            <a:ext cx="3922149" cy="3922149"/>
          </a:xfrm>
          <a:prstGeom prst="rect">
            <a:avLst/>
          </a:prstGeom>
        </p:spPr>
      </p:pic>
      <p:pic>
        <p:nvPicPr>
          <p:cNvPr id="28" name="Picture 27" descr="Text&#10;&#10;Description automatically generated">
            <a:extLst>
              <a:ext uri="{FF2B5EF4-FFF2-40B4-BE49-F238E27FC236}">
                <a16:creationId xmlns:a16="http://schemas.microsoft.com/office/drawing/2014/main" id="{BA7FE5DE-D136-4246-AC81-1681BFE889A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6" t="11822" r="4055"/>
          <a:stretch/>
        </p:blipFill>
        <p:spPr>
          <a:xfrm>
            <a:off x="22936200" y="22339689"/>
            <a:ext cx="3349930" cy="426870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1A3508B-A4E3-DF47-91EA-9245252DE2DA}"/>
              </a:ext>
            </a:extLst>
          </p:cNvPr>
          <p:cNvSpPr txBox="1"/>
          <p:nvPr/>
        </p:nvSpPr>
        <p:spPr>
          <a:xfrm>
            <a:off x="19406354" y="26700468"/>
            <a:ext cx="6819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Word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cloud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for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COVID-19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second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wave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9CACBF-5739-AA49-85F5-C590ABCAD01F}"/>
              </a:ext>
            </a:extLst>
          </p:cNvPr>
          <p:cNvSpPr txBox="1"/>
          <p:nvPr/>
        </p:nvSpPr>
        <p:spPr>
          <a:xfrm>
            <a:off x="20881387" y="35356630"/>
            <a:ext cx="3901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Word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cloud</a:t>
            </a:r>
            <a:r>
              <a:rPr lang="zh-CN" altLang="en-US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animation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2B9888-5538-344D-B5D9-912B964FD426}"/>
              </a:ext>
            </a:extLst>
          </p:cNvPr>
          <p:cNvGrpSpPr/>
          <p:nvPr/>
        </p:nvGrpSpPr>
        <p:grpSpPr>
          <a:xfrm>
            <a:off x="685800" y="24298656"/>
            <a:ext cx="7957250" cy="11667744"/>
            <a:chOff x="686912" y="15035093"/>
            <a:chExt cx="7957250" cy="11668364"/>
          </a:xfrm>
        </p:grpSpPr>
        <p:pic>
          <p:nvPicPr>
            <p:cNvPr id="5" name="Picture 4" descr="A screenshot of a video game&#10;&#10;Description automatically generated with medium confidence">
              <a:extLst>
                <a:ext uri="{FF2B5EF4-FFF2-40B4-BE49-F238E27FC236}">
                  <a16:creationId xmlns:a16="http://schemas.microsoft.com/office/drawing/2014/main" id="{7269743B-87DE-3542-AE09-B79E9F606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912" y="15035093"/>
              <a:ext cx="7949922" cy="3919657"/>
            </a:xfrm>
            <a:prstGeom prst="rect">
              <a:avLst/>
            </a:prstGeom>
          </p:spPr>
        </p:pic>
        <p:pic>
          <p:nvPicPr>
            <p:cNvPr id="12" name="Picture 11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AD2F22FD-B58C-DE4F-9328-4A0D1B92B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912" y="18897600"/>
              <a:ext cx="7949922" cy="3929593"/>
            </a:xfrm>
            <a:prstGeom prst="rect">
              <a:avLst/>
            </a:prstGeom>
          </p:spPr>
        </p:pic>
        <p:pic>
          <p:nvPicPr>
            <p:cNvPr id="14" name="Picture 13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0DEB63D2-9B42-6741-9FCD-3EE5242A5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912" y="22783800"/>
              <a:ext cx="7957250" cy="3919657"/>
            </a:xfrm>
            <a:prstGeom prst="rect">
              <a:avLst/>
            </a:prstGeom>
          </p:spPr>
        </p:pic>
      </p:grpSp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1A0DC73B-FD88-6645-8CC7-74CDAF7BC2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81" y="14958867"/>
            <a:ext cx="8307760" cy="3914651"/>
          </a:xfrm>
          <a:prstGeom prst="rect">
            <a:avLst/>
          </a:prstGeom>
        </p:spPr>
      </p:pic>
      <p:sp>
        <p:nvSpPr>
          <p:cNvPr id="33" name="矩形 104">
            <a:extLst>
              <a:ext uri="{FF2B5EF4-FFF2-40B4-BE49-F238E27FC236}">
                <a16:creationId xmlns:a16="http://schemas.microsoft.com/office/drawing/2014/main" id="{002D7127-F10C-A941-BBFC-1932D6543BEE}"/>
              </a:ext>
            </a:extLst>
          </p:cNvPr>
          <p:cNvSpPr/>
          <p:nvPr/>
        </p:nvSpPr>
        <p:spPr>
          <a:xfrm>
            <a:off x="614021" y="18973800"/>
            <a:ext cx="82296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User interface of the global COVID-19 cases: </a:t>
            </a:r>
          </a:p>
          <a:p>
            <a:pPr marL="514350" indent="-514350">
              <a:buAutoNum type="arabicParenR"/>
            </a:pPr>
            <a:r>
              <a:rPr lang="en-US" altLang="zh-CN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line charts</a:t>
            </a:r>
          </a:p>
          <a:p>
            <a:pPr marL="514350" indent="-514350">
              <a:buAutoNum type="arabicParenR"/>
            </a:pPr>
            <a:r>
              <a:rPr lang="en-US" altLang="zh-CN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total number</a:t>
            </a:r>
          </a:p>
          <a:p>
            <a:pPr marL="514350" indent="-514350">
              <a:buFontTx/>
              <a:buAutoNum type="arabicParenR"/>
            </a:pPr>
            <a:r>
              <a:rPr lang="en-US" altLang="zh-CN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country-wise cases of the selected date </a:t>
            </a:r>
          </a:p>
          <a:p>
            <a:pPr marL="514350" indent="-514350">
              <a:buAutoNum type="arabicParenR"/>
            </a:pPr>
            <a:r>
              <a:rPr lang="en-US" altLang="zh-CN" sz="2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navigation bar</a:t>
            </a:r>
          </a:p>
          <a:p>
            <a:pPr marL="514350" indent="-514350">
              <a:buAutoNum type="arabicParenR"/>
            </a:pPr>
            <a:endParaRPr lang="en-US" altLang="zh-CN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Dragging along the slide bar displays daily COVID-19 case data, and each country switches to corresponding color scheme. Meanwhile, the total cases are dynamically displayed on the right.</a:t>
            </a:r>
          </a:p>
          <a:p>
            <a:endParaRPr lang="en-US" altLang="zh-CN" sz="3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3" name="Picture 12" descr="A screenshot of a video game&#10;&#10;Description automatically generated">
            <a:extLst>
              <a:ext uri="{FF2B5EF4-FFF2-40B4-BE49-F238E27FC236}">
                <a16:creationId xmlns:a16="http://schemas.microsoft.com/office/drawing/2014/main" id="{B900C5BE-D38A-594C-9F00-69EB71214D2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94"/>
          <a:stretch/>
        </p:blipFill>
        <p:spPr>
          <a:xfrm>
            <a:off x="9513704" y="20269200"/>
            <a:ext cx="8529644" cy="5935371"/>
          </a:xfrm>
          <a:prstGeom prst="rect">
            <a:avLst/>
          </a:prstGeom>
        </p:spPr>
      </p:pic>
      <p:sp>
        <p:nvSpPr>
          <p:cNvPr id="36" name="矩形 104">
            <a:extLst>
              <a:ext uri="{FF2B5EF4-FFF2-40B4-BE49-F238E27FC236}">
                <a16:creationId xmlns:a16="http://schemas.microsoft.com/office/drawing/2014/main" id="{F677E47A-3F07-954F-B2D6-81598154AD2B}"/>
              </a:ext>
            </a:extLst>
          </p:cNvPr>
          <p:cNvSpPr/>
          <p:nvPr/>
        </p:nvSpPr>
        <p:spPr>
          <a:xfrm>
            <a:off x="9351704" y="31055370"/>
            <a:ext cx="88931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3-D global COVID-19 visualizer provides accurate and necessary information for all users. Interactive functions display the evolution of the pandemic.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number of COVID-19 tweets from one location has a positive relation with its number of COVID-19 cases.</a:t>
            </a:r>
          </a:p>
        </p:txBody>
      </p:sp>
    </p:spTree>
    <p:extLst>
      <p:ext uri="{BB962C8B-B14F-4D97-AF65-F5344CB8AC3E}">
        <p14:creationId xmlns:p14="http://schemas.microsoft.com/office/powerpoint/2010/main" val="30010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496</Words>
  <Application>Microsoft Macintosh PowerPoint</Application>
  <PresentationFormat>Custom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CSST</dc:title>
  <dc:creator>CNCSST</dc:creator>
  <cp:lastModifiedBy>Peng, Shengyun</cp:lastModifiedBy>
  <cp:revision>123</cp:revision>
  <dcterms:created xsi:type="dcterms:W3CDTF">2014-08-20T17:19:49Z</dcterms:created>
  <dcterms:modified xsi:type="dcterms:W3CDTF">2021-12-03T22:01:50Z</dcterms:modified>
</cp:coreProperties>
</file>